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Cambria" panose="02040503050406030204" pitchFamily="18" charset="0"/>
      <p:regular r:id="rId6"/>
      <p:bold r:id="rId7"/>
      <p:italic r:id="rId8"/>
      <p:boldItalic r:id="rId9"/>
    </p:embeddedFont>
    <p:embeddedFont>
      <p:font typeface="Cambria Bold" panose="02040803050406030204" pitchFamily="18" charset="0"/>
      <p:regular r:id="rId10"/>
      <p:bold r:id="rId11"/>
    </p:embeddedFont>
    <p:embeddedFont>
      <p:font typeface="Cambria Italics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kaggle.com/datasets/subhajournal/phishingemails/data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4485" y="527347"/>
            <a:ext cx="17253956" cy="9213744"/>
            <a:chOff x="0" y="0"/>
            <a:chExt cx="4544252" cy="2426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252" cy="2426665"/>
            </a:xfrm>
            <a:custGeom>
              <a:avLst/>
              <a:gdLst/>
              <a:ahLst/>
              <a:cxnLst/>
              <a:rect l="l" t="t" r="r" b="b"/>
              <a:pathLst>
                <a:path w="4544252" h="2426665">
                  <a:moveTo>
                    <a:pt x="0" y="0"/>
                  </a:moveTo>
                  <a:lnTo>
                    <a:pt x="4544252" y="0"/>
                  </a:lnTo>
                  <a:lnTo>
                    <a:pt x="4544252" y="2426665"/>
                  </a:lnTo>
                  <a:lnTo>
                    <a:pt x="0" y="242666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252" cy="246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77731" y="527347"/>
            <a:ext cx="3210729" cy="1202681"/>
          </a:xfrm>
          <a:custGeom>
            <a:avLst/>
            <a:gdLst/>
            <a:ahLst/>
            <a:cxnLst/>
            <a:rect l="l" t="t" r="r" b="b"/>
            <a:pathLst>
              <a:path w="3210729" h="1202681">
                <a:moveTo>
                  <a:pt x="0" y="0"/>
                </a:moveTo>
                <a:lnTo>
                  <a:pt x="3210729" y="0"/>
                </a:lnTo>
                <a:lnTo>
                  <a:pt x="3210729" y="1202681"/>
                </a:lnTo>
                <a:lnTo>
                  <a:pt x="0" y="1202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77730" y="2628826"/>
            <a:ext cx="9132540" cy="287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23CSE301 </a:t>
            </a:r>
          </a:p>
          <a:p>
            <a:pPr algn="ctr">
              <a:lnSpc>
                <a:spcPts val="7699"/>
              </a:lnSpc>
            </a:pPr>
            <a:r>
              <a:rPr lang="en-US" sz="5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Machine Learning Capstone </a:t>
            </a:r>
          </a:p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Phase - I Review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6162" y="6179185"/>
            <a:ext cx="16230600" cy="307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Name: </a:t>
            </a:r>
            <a:r>
              <a:rPr lang="en-US" sz="29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NAGARAMPALLI SARVAN KUMAR</a:t>
            </a:r>
          </a:p>
          <a:p>
            <a:pPr algn="l">
              <a:lnSpc>
                <a:spcPts val="1400"/>
              </a:lnSpc>
            </a:pPr>
            <a:endParaRPr lang="en-US" sz="29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Roll Number:</a:t>
            </a:r>
            <a:r>
              <a:rPr lang="en-US" sz="29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CH.SC.U4CSE24130</a:t>
            </a:r>
          </a:p>
          <a:p>
            <a:pPr algn="l">
              <a:lnSpc>
                <a:spcPts val="1399"/>
              </a:lnSpc>
            </a:pPr>
            <a:endParaRPr lang="en-US" sz="29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060"/>
              </a:lnSpc>
            </a:pPr>
            <a:r>
              <a:rPr lang="en-US" sz="29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Paper ID: </a:t>
            </a:r>
            <a:r>
              <a:rPr lang="en-US" sz="29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045</a:t>
            </a:r>
          </a:p>
          <a:p>
            <a:pPr algn="l">
              <a:lnSpc>
                <a:spcPts val="1399"/>
              </a:lnSpc>
            </a:pPr>
            <a:endParaRPr lang="en-US" sz="29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Paper Title:</a:t>
            </a:r>
            <a:r>
              <a:rPr lang="en-US" sz="29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Improving Phishing Email Detection Performance Through Deep Learning With Adaptive Optimization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4485" y="527347"/>
            <a:ext cx="17253956" cy="9213744"/>
            <a:chOff x="0" y="0"/>
            <a:chExt cx="4544252" cy="2426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252" cy="2426665"/>
            </a:xfrm>
            <a:custGeom>
              <a:avLst/>
              <a:gdLst/>
              <a:ahLst/>
              <a:cxnLst/>
              <a:rect l="l" t="t" r="r" b="b"/>
              <a:pathLst>
                <a:path w="4544252" h="2426665">
                  <a:moveTo>
                    <a:pt x="0" y="0"/>
                  </a:moveTo>
                  <a:lnTo>
                    <a:pt x="4544252" y="0"/>
                  </a:lnTo>
                  <a:lnTo>
                    <a:pt x="4544252" y="2426665"/>
                  </a:lnTo>
                  <a:lnTo>
                    <a:pt x="0" y="242666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252" cy="246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77731" y="527347"/>
            <a:ext cx="3210729" cy="1202681"/>
          </a:xfrm>
          <a:custGeom>
            <a:avLst/>
            <a:gdLst/>
            <a:ahLst/>
            <a:cxnLst/>
            <a:rect l="l" t="t" r="r" b="b"/>
            <a:pathLst>
              <a:path w="3210729" h="1202681">
                <a:moveTo>
                  <a:pt x="0" y="0"/>
                </a:moveTo>
                <a:lnTo>
                  <a:pt x="3210729" y="0"/>
                </a:lnTo>
                <a:lnTo>
                  <a:pt x="3210729" y="1202681"/>
                </a:lnTo>
                <a:lnTo>
                  <a:pt x="0" y="1202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62000" y="790830"/>
            <a:ext cx="7124700" cy="655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Understanding the Problem: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653828"/>
            <a:ext cx="4686296" cy="573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Statement:</a:t>
            </a:r>
          </a:p>
        </p:txBody>
      </p:sp>
      <p:sp>
        <p:nvSpPr>
          <p:cNvPr id="8" name="AutoShape 8"/>
          <p:cNvSpPr/>
          <p:nvPr/>
        </p:nvSpPr>
        <p:spPr>
          <a:xfrm flipH="1" flipV="1">
            <a:off x="9144000" y="1730028"/>
            <a:ext cx="0" cy="7528272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9444135" y="1653828"/>
            <a:ext cx="3068836" cy="60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Interpretation: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40634"/>
            <a:ext cx="7810500" cy="6726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43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Phishing attacks are growing more sophisticated, closely imitating trusted sources and placing a heavy burden on cybersecurity.</a:t>
            </a:r>
          </a:p>
          <a:p>
            <a:pPr marL="626104" lvl="1" indent="-313052" algn="l">
              <a:lnSpc>
                <a:spcPts val="443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makes it difficult for both users and traditional filters to tell legitimate messages from malicious ones.</a:t>
            </a:r>
          </a:p>
          <a:p>
            <a:pPr marL="626104" lvl="1" indent="-313052" algn="l">
              <a:lnSpc>
                <a:spcPts val="443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Traditional filters rely on known keywords and patterns, so they often fail against new or cleverly worded phishing attempts.</a:t>
            </a:r>
          </a:p>
          <a:p>
            <a:pPr marL="626104" lvl="1" indent="-313052" algn="l">
              <a:lnSpc>
                <a:spcPts val="4436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gap creates the need for a smarter, context aware detection system.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44135" y="2493009"/>
            <a:ext cx="8087898" cy="6778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4" lvl="1" indent="-313052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problem can be modeled as a </a:t>
            </a: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Supervised Learning </a:t>
            </a: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problem, since the dataset provides labeled examples (Phishing / Safe).</a:t>
            </a:r>
          </a:p>
          <a:p>
            <a:pPr marL="626104" lvl="1" indent="-313052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is a </a:t>
            </a: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Classification</a:t>
            </a: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problem, and falls under </a:t>
            </a: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Binary Classification</a:t>
            </a: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</a:p>
          <a:p>
            <a:pPr marL="626104" lvl="1" indent="-313052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is a </a:t>
            </a: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Deep Learning problem</a:t>
            </a: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, since detecting phishing requires understanding context, not just matching keywords.</a:t>
            </a:r>
          </a:p>
          <a:p>
            <a:pPr marL="626104" lvl="1" indent="-313052" algn="l">
              <a:lnSpc>
                <a:spcPts val="492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 catch phishing, we need to </a:t>
            </a: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understand the</a:t>
            </a: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28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context behind an email</a:t>
            </a: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and what it is really trying to say, not just the words it uses.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4485" y="527347"/>
            <a:ext cx="17253956" cy="9213744"/>
            <a:chOff x="0" y="0"/>
            <a:chExt cx="4544252" cy="24266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44252" cy="2426665"/>
            </a:xfrm>
            <a:custGeom>
              <a:avLst/>
              <a:gdLst/>
              <a:ahLst/>
              <a:cxnLst/>
              <a:rect l="l" t="t" r="r" b="b"/>
              <a:pathLst>
                <a:path w="4544252" h="2426665">
                  <a:moveTo>
                    <a:pt x="0" y="0"/>
                  </a:moveTo>
                  <a:lnTo>
                    <a:pt x="4544252" y="0"/>
                  </a:lnTo>
                  <a:lnTo>
                    <a:pt x="4544252" y="2426665"/>
                  </a:lnTo>
                  <a:lnTo>
                    <a:pt x="0" y="242666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44252" cy="246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4477731" y="527347"/>
            <a:ext cx="3210729" cy="1202681"/>
          </a:xfrm>
          <a:custGeom>
            <a:avLst/>
            <a:gdLst/>
            <a:ahLst/>
            <a:cxnLst/>
            <a:rect l="l" t="t" r="r" b="b"/>
            <a:pathLst>
              <a:path w="3210729" h="1202681">
                <a:moveTo>
                  <a:pt x="0" y="0"/>
                </a:moveTo>
                <a:lnTo>
                  <a:pt x="3210729" y="0"/>
                </a:lnTo>
                <a:lnTo>
                  <a:pt x="3210729" y="1202681"/>
                </a:lnTo>
                <a:lnTo>
                  <a:pt x="0" y="1202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048602" y="2761103"/>
            <a:ext cx="4210698" cy="3250844"/>
          </a:xfrm>
          <a:custGeom>
            <a:avLst/>
            <a:gdLst/>
            <a:ahLst/>
            <a:cxnLst/>
            <a:rect l="l" t="t" r="r" b="b"/>
            <a:pathLst>
              <a:path w="4210698" h="3250844">
                <a:moveTo>
                  <a:pt x="0" y="0"/>
                </a:moveTo>
                <a:lnTo>
                  <a:pt x="4210698" y="0"/>
                </a:lnTo>
                <a:lnTo>
                  <a:pt x="4210698" y="3250844"/>
                </a:lnTo>
                <a:lnTo>
                  <a:pt x="0" y="32508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5992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070265" y="6183397"/>
            <a:ext cx="4189035" cy="3074903"/>
          </a:xfrm>
          <a:custGeom>
            <a:avLst/>
            <a:gdLst/>
            <a:ahLst/>
            <a:cxnLst/>
            <a:rect l="l" t="t" r="r" b="b"/>
            <a:pathLst>
              <a:path w="4189035" h="3074903">
                <a:moveTo>
                  <a:pt x="0" y="0"/>
                </a:moveTo>
                <a:lnTo>
                  <a:pt x="4189035" y="0"/>
                </a:lnTo>
                <a:lnTo>
                  <a:pt x="4189035" y="3074903"/>
                </a:lnTo>
                <a:lnTo>
                  <a:pt x="0" y="3074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689" b="-1744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41338"/>
            <a:ext cx="9460594" cy="688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Dataset Description &amp; Interpretation: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1928103"/>
            <a:ext cx="13316464" cy="6888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URL: </a:t>
            </a:r>
            <a:r>
              <a:rPr lang="en-US" sz="2999" u="sng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  <a:hlinkClick r:id="rId5" tooltip="https://www.kaggle.com/datasets/subhajournal/phishingemails/data"/>
              </a:rPr>
              <a:t>https://www.kaggle.com/datasets/subhajournal/phishingemails/data</a:t>
            </a:r>
          </a:p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Shape: 18,650 rows x 3 columns </a:t>
            </a:r>
          </a:p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Total No. of Samples: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18,650</a:t>
            </a:r>
          </a:p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Total No. of Columns: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</a:t>
            </a:r>
          </a:p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Column Headers: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['Unnamed: 0', 'Email Text', 'Email Type']</a:t>
            </a:r>
          </a:p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Distribution of Safe vs Phishing Emails in the Dataset used:</a:t>
            </a:r>
          </a:p>
          <a:p>
            <a:pPr marL="1295387" lvl="2" indent="-431796" algn="l">
              <a:lnSpc>
                <a:spcPts val="500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Safe Emails -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11,322 (60.71 %)</a:t>
            </a:r>
          </a:p>
          <a:p>
            <a:pPr marL="1295387" lvl="2" indent="-431796" algn="l">
              <a:lnSpc>
                <a:spcPts val="5009"/>
              </a:lnSpc>
              <a:buFont typeface="Arial"/>
              <a:buChar char="⚬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Phishing Emails -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7,328 (39.29 %)</a:t>
            </a:r>
          </a:p>
          <a:p>
            <a:pPr marL="647694" lvl="1" indent="-323847" algn="l">
              <a:lnSpc>
                <a:spcPts val="500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It is a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mildly imbalanced</a:t>
            </a: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classification problem. As </a:t>
            </a: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the dataset is a </a:t>
            </a:r>
          </a:p>
          <a:p>
            <a:pPr algn="l">
              <a:lnSpc>
                <a:spcPts val="5009"/>
              </a:lnSpc>
            </a:pPr>
            <a:r>
              <a:rPr lang="en-US" sz="2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       bit skewed towards Safe Emails</a:t>
            </a: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(60.71%) Compared to Phishing </a:t>
            </a:r>
          </a:p>
          <a:p>
            <a:pPr algn="l">
              <a:lnSpc>
                <a:spcPts val="5009"/>
              </a:lnSpc>
            </a:pPr>
            <a:r>
              <a:rPr lang="en-US" sz="2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       Emails (39.29%).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730028"/>
            <a:ext cx="12659879" cy="7337185"/>
          </a:xfrm>
          <a:custGeom>
            <a:avLst/>
            <a:gdLst/>
            <a:ahLst/>
            <a:cxnLst/>
            <a:rect l="l" t="t" r="r" b="b"/>
            <a:pathLst>
              <a:path w="12659879" h="7337185">
                <a:moveTo>
                  <a:pt x="0" y="0"/>
                </a:moveTo>
                <a:lnTo>
                  <a:pt x="12659879" y="0"/>
                </a:lnTo>
                <a:lnTo>
                  <a:pt x="12659879" y="7337185"/>
                </a:lnTo>
                <a:lnTo>
                  <a:pt x="0" y="7337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0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64485" y="527347"/>
            <a:ext cx="17253956" cy="9213744"/>
            <a:chOff x="0" y="0"/>
            <a:chExt cx="4544252" cy="242666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44252" cy="2426665"/>
            </a:xfrm>
            <a:custGeom>
              <a:avLst/>
              <a:gdLst/>
              <a:ahLst/>
              <a:cxnLst/>
              <a:rect l="l" t="t" r="r" b="b"/>
              <a:pathLst>
                <a:path w="4544252" h="2426665">
                  <a:moveTo>
                    <a:pt x="0" y="0"/>
                  </a:moveTo>
                  <a:lnTo>
                    <a:pt x="4544252" y="0"/>
                  </a:lnTo>
                  <a:lnTo>
                    <a:pt x="4544252" y="2426665"/>
                  </a:lnTo>
                  <a:lnTo>
                    <a:pt x="0" y="2426665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544252" cy="2464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4477731" y="527347"/>
            <a:ext cx="3210729" cy="1202681"/>
          </a:xfrm>
          <a:custGeom>
            <a:avLst/>
            <a:gdLst/>
            <a:ahLst/>
            <a:cxnLst/>
            <a:rect l="l" t="t" r="r" b="b"/>
            <a:pathLst>
              <a:path w="3210729" h="1202681">
                <a:moveTo>
                  <a:pt x="0" y="0"/>
                </a:moveTo>
                <a:lnTo>
                  <a:pt x="3210729" y="0"/>
                </a:lnTo>
                <a:lnTo>
                  <a:pt x="3210729" y="1202681"/>
                </a:lnTo>
                <a:lnTo>
                  <a:pt x="0" y="12026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41338"/>
            <a:ext cx="8039100" cy="6552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Interpretation of Approach Used: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63410" y="1863462"/>
            <a:ext cx="3582719" cy="487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Key Terms:</a:t>
            </a:r>
          </a:p>
          <a:p>
            <a:pPr algn="l">
              <a:lnSpc>
                <a:spcPts val="2240"/>
              </a:lnSpc>
            </a:pPr>
            <a:endParaRPr lang="en-US" sz="28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Tokenization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MGO (Mountain Gazelle Optimizer)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BERT (Bidirectional Encoder Representations from Transformers)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Multi-Head Attention</a:t>
            </a:r>
          </a:p>
          <a:p>
            <a:pPr marL="453388" lvl="1" indent="-226694" algn="l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CNN (Convolutional Neural Network)</a:t>
            </a:r>
          </a:p>
          <a:p>
            <a:pPr marL="453388" lvl="1" indent="-226694" algn="l">
              <a:lnSpc>
                <a:spcPts val="2939"/>
              </a:lnSpc>
              <a:spcBef>
                <a:spcPct val="0"/>
              </a:spcBef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GRU (Gated Recurrent Unit)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425140" y="9033827"/>
            <a:ext cx="7632373" cy="39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i="1">
                <a:solidFill>
                  <a:srgbClr val="00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Source: The above image has been extracted from the base paper.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364</Words>
  <Application>Microsoft Office PowerPoint</Application>
  <PresentationFormat>Custom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Cambria</vt:lpstr>
      <vt:lpstr>Cambria Bold</vt:lpstr>
      <vt:lpstr>Arial</vt:lpstr>
      <vt:lpstr>Cambria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24130_045</dc:title>
  <cp:lastModifiedBy>NAGARAMPALLI SARVAN KUMAR-[CH.SC.U4CSE24130]</cp:lastModifiedBy>
  <cp:revision>2</cp:revision>
  <dcterms:created xsi:type="dcterms:W3CDTF">2006-08-16T00:00:00Z</dcterms:created>
  <dcterms:modified xsi:type="dcterms:W3CDTF">2026-07-22T15:18:12Z</dcterms:modified>
  <dc:identifier>DAHP8M1bLa4</dc:identifier>
</cp:coreProperties>
</file>